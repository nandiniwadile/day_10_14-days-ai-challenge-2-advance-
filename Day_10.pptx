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DB8B8-87BE-1404-2F95-0264DC0C4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F03FB-72EA-656E-A50C-9AD37367E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C206-2269-CE13-1274-0294FF3C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537EF-5D10-4E33-B11C-B0C25F7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D30D5-4211-08B2-4730-FB7C7FD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4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41E3-AE12-BBA6-FF23-9527BF8C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A0C1-9B83-C01C-AE43-A8AE658FC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8EAD-AD1E-10AF-EBAA-E8E98923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47E3-287F-97B0-07EA-D242D97B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E82C4-A937-27AF-97BE-13B5DB7E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6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0024-6412-4F88-5E89-1AA22B2B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ACA4-1627-39F4-FFB4-F5C7111E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493A6-97A1-342F-846B-8AD6F149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91941-8C46-1F9C-D992-125129A8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E733-FDCC-0CB5-CFAE-064FCBAC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25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60BD-E6CA-AD56-9D57-98C8DCC2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421A-C335-5FB0-9248-F904044D6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7862B-238A-75A8-5F2B-5A8001AD7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DF42B-6161-598F-ADC4-CBB547F4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66C73-AE4B-7205-1CBF-6ED67141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7F102-E101-9B0F-FD00-749A676D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0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5505-9E3E-96AF-9BF5-E864F000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EF2FB-9A07-DC0A-0F39-7BBF40A88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B88E0-0171-AA04-02C6-0B93285C1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0DE9-1396-4EC6-E79E-C07C40B51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428A1-93AF-281D-ADE0-764D9C033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105EE-E508-F384-2810-18241042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0E5CF-A61D-C538-C73D-7B4AF209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9C7BB-77DF-A260-17C2-AA5F68F7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11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6AEF-F0F8-716F-6971-0B221CDC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19FFF-14A9-2D8B-0803-80A68DE2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B5CC1-0B4E-6FE0-5468-2F332EC5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9FF98-F8D5-A8DF-4BB2-D6E0ACB9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5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482D2-4EF5-B948-05EB-529A8409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92323-9142-B97E-14D4-23AA5609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6F366-7694-3FA6-53E0-6718CE64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2BF5-83F6-BCFC-DD61-B4CAE86E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E968-D901-E6CD-22FF-3CE6CF3AB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26B-7F14-AB95-3CF3-00D5A1424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B9816-619A-34AC-6967-132746F1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B31A-D19E-07F4-BDA1-C35934E3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E5FBB-88D4-90C2-5E65-38729A6F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7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2D1B-2DA6-4783-5915-87B24824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5BAE9-BD8A-E7DE-CA4B-6C0BA2E46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515F7-8546-7BC3-DDAC-46CFC4921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F6B07-236C-D96A-047C-B7D58598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543AA-AC18-31EE-784D-25B140FB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C6A78-3265-87C6-E510-55D8BD6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0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AE12-0CB0-47DD-AA1E-CDF4E8F4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DC6D4-26EB-6FA1-962C-B0B3A7C32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3F468-FDB7-F451-235C-4211A6FB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24FC-F57C-89FE-03CE-3CB7A911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4326-5BAA-F550-BA99-BD3B8BA3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92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8F5F7-06B2-8026-6864-110908A7C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00167-B626-0110-92A2-3F1B5C8EB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8F67-9E0E-E290-7509-DC4A7B66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E236-D4F7-7757-64E5-96E8D084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3CB3-C23F-04F4-C3F0-84EFCAD0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05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D5B8D-EF98-C8D6-88AB-C1B1B634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95ABB-D0E9-F831-A01A-ED08F8645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A804-4185-F9CE-9AD2-3C71D89FD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36D7-0C38-4BDF-B6DF-C07468473CE7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45F1F-FEB9-C9BC-129A-9BF85E949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DE98B-9EEB-6B5D-9774-A5BF17C0D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1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9C11-9B16-594E-5E0C-2BF8BC28A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5298" y="599685"/>
            <a:ext cx="7528949" cy="174084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+mn-lt"/>
              </a:rPr>
              <a:t>DAY 10 –  Query Optimization &amp; Explain Plans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FFD3-ECED-C3E0-0560-A7E0ED803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7772" y="2340534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14 Days AI Challenge – 2 (Advance)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D740C-4C73-E249-56E0-C1C07932EEA5}"/>
              </a:ext>
            </a:extLst>
          </p:cNvPr>
          <p:cNvSpPr txBox="1"/>
          <p:nvPr/>
        </p:nvSpPr>
        <p:spPr>
          <a:xfrm>
            <a:off x="6095999" y="2799083"/>
            <a:ext cx="6537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Notebook file : </a:t>
            </a:r>
            <a:r>
              <a:rPr lang="en-US" b="1" dirty="0">
                <a:solidFill>
                  <a:schemeClr val="accent5"/>
                </a:solidFill>
              </a:rPr>
              <a:t>https://github.com/Nandiniwadile</a:t>
            </a:r>
            <a:endParaRPr lang="en-IN" dirty="0">
              <a:solidFill>
                <a:schemeClr val="accent5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A4FFDD-D794-9163-E070-BA88F94BF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23" y="229584"/>
            <a:ext cx="5119066" cy="63988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582017-9127-9A20-5B0E-1753C9F7655A}"/>
              </a:ext>
            </a:extLst>
          </p:cNvPr>
          <p:cNvSpPr txBox="1"/>
          <p:nvPr/>
        </p:nvSpPr>
        <p:spPr>
          <a:xfrm>
            <a:off x="6234165" y="3203766"/>
            <a:ext cx="6653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Learn: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explain() 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Partition pruning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Caching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 Tasks: </a:t>
            </a:r>
          </a:p>
          <a:p>
            <a:r>
              <a:rPr lang="en-US" dirty="0"/>
              <a:t> 1. Run heavy query.</a:t>
            </a:r>
          </a:p>
          <a:p>
            <a:r>
              <a:rPr lang="en-US" dirty="0"/>
              <a:t> 2. Analyze explain plan.</a:t>
            </a:r>
          </a:p>
          <a:p>
            <a:r>
              <a:rPr lang="en-US" dirty="0"/>
              <a:t> 3. Enable caching.</a:t>
            </a:r>
          </a:p>
          <a:p>
            <a:r>
              <a:rPr lang="en-US" dirty="0"/>
              <a:t> 4. Compare execution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31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E430D0-1A94-1F47-8C9E-1762535CA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1"/>
          <a:stretch>
            <a:fillRect/>
          </a:stretch>
        </p:blipFill>
        <p:spPr>
          <a:xfrm>
            <a:off x="0" y="870801"/>
            <a:ext cx="12211137" cy="511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49AD06-CE00-55CE-C29D-9233AFEEF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5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B2A7-9A4E-F802-A595-831AF43B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59197-5825-14B0-E001-655D6DCED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4" y="1438019"/>
            <a:ext cx="7281840" cy="4328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5C8D47-315D-66DF-2798-EEFA209762CC}"/>
              </a:ext>
            </a:extLst>
          </p:cNvPr>
          <p:cNvSpPr txBox="1"/>
          <p:nvPr/>
        </p:nvSpPr>
        <p:spPr>
          <a:xfrm>
            <a:off x="7541876" y="1438019"/>
            <a:ext cx="9539491" cy="411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Concept Importance:</a:t>
            </a:r>
            <a:endParaRPr 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Simulates a real production workload; helps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test system performance under realistic conditions.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Necessary before any optimization; you can’t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improve what you haven’t measured.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2 Key Points:</a:t>
            </a:r>
            <a:endParaRPr lang="en-US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Aggregation queries like </a:t>
            </a:r>
            <a:r>
              <a:rPr lang="en-US" sz="1600" dirty="0" err="1">
                <a:latin typeface="Courier New" panose="02070309020205020404" pitchFamily="49" charset="0"/>
              </a:rPr>
              <a:t>groupBy</a:t>
            </a:r>
            <a:r>
              <a:rPr lang="en-US" sz="1600" dirty="0">
                <a:latin typeface="Courier New" panose="02070309020205020404" pitchFamily="49" charset="0"/>
              </a:rPr>
              <a:t>().</a:t>
            </a:r>
            <a:r>
              <a:rPr lang="en-US" sz="1600" dirty="0" err="1">
                <a:latin typeface="Courier New" panose="02070309020205020404" pitchFamily="49" charset="0"/>
              </a:rPr>
              <a:t>agg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 show how Spark handles large data computations.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Sets the baseline execution time to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 compare optimizations later.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B59C3-6A5E-C702-B95E-EB3E9027E2FF}"/>
              </a:ext>
            </a:extLst>
          </p:cNvPr>
          <p:cNvSpPr txBox="1"/>
          <p:nvPr/>
        </p:nvSpPr>
        <p:spPr>
          <a:xfrm>
            <a:off x="301828" y="475210"/>
            <a:ext cx="7088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1. Run Heavy Query</a:t>
            </a:r>
          </a:p>
        </p:txBody>
      </p:sp>
    </p:spTree>
    <p:extLst>
      <p:ext uri="{BB962C8B-B14F-4D97-AF65-F5344CB8AC3E}">
        <p14:creationId xmlns:p14="http://schemas.microsoft.com/office/powerpoint/2010/main" val="132326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48C0-110B-C666-E6D8-98261E84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39E5E-C0CD-37E9-DB88-3B16E92BD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453" y="1072906"/>
            <a:ext cx="7546539" cy="4998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4C1889-77A3-B0B7-BCBB-1177CB934CEC}"/>
              </a:ext>
            </a:extLst>
          </p:cNvPr>
          <p:cNvSpPr txBox="1"/>
          <p:nvPr/>
        </p:nvSpPr>
        <p:spPr>
          <a:xfrm>
            <a:off x="293535" y="1170733"/>
            <a:ext cx="8535536" cy="425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Concept Importance: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Reveals how Spark executes your query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internally: logical plan vs physical plan.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Identifies bottlenecks like unnecessary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shuffles, scans, or expensive operations.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2 Key Points: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Helps understand where query optimization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can save time or resources.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2. Essential for production-ready workflows;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avoids costly inefficiencies on large datasets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26CC5-2BA7-E7DE-F7A6-D88DF04DFD3D}"/>
              </a:ext>
            </a:extLst>
          </p:cNvPr>
          <p:cNvSpPr txBox="1"/>
          <p:nvPr/>
        </p:nvSpPr>
        <p:spPr>
          <a:xfrm>
            <a:off x="293535" y="611241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Analyze Explain Plan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422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FEBB-CD1A-24CB-14C5-BC67F091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4BE06C-ED01-A291-2A19-4A0D016FD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66" y="915469"/>
            <a:ext cx="11371868" cy="32862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0D35B5-BC93-2FD5-EE9A-EC2B6AEFC4C0}"/>
              </a:ext>
            </a:extLst>
          </p:cNvPr>
          <p:cNvSpPr txBox="1"/>
          <p:nvPr/>
        </p:nvSpPr>
        <p:spPr>
          <a:xfrm>
            <a:off x="5980501" y="4389789"/>
            <a:ext cx="8282253" cy="1946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2 Key Points: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Improves performance significantly when queries are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 repeated on the same dataset.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2. Reduces </a:t>
            </a:r>
            <a:r>
              <a:rPr lang="en-US" sz="1600" b="1" dirty="0"/>
              <a:t>cluster computation cost</a:t>
            </a:r>
            <a:r>
              <a:rPr lang="en-US" sz="1600" dirty="0"/>
              <a:t>, which is crucial in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 production environments.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B4B0F-A7FC-8A13-AF67-71370FDBB009}"/>
              </a:ext>
            </a:extLst>
          </p:cNvPr>
          <p:cNvSpPr txBox="1"/>
          <p:nvPr/>
        </p:nvSpPr>
        <p:spPr>
          <a:xfrm>
            <a:off x="410066" y="432611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3. Enable Caching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FE785-B425-C782-0605-5CF369B70743}"/>
              </a:ext>
            </a:extLst>
          </p:cNvPr>
          <p:cNvSpPr txBox="1"/>
          <p:nvPr/>
        </p:nvSpPr>
        <p:spPr>
          <a:xfrm>
            <a:off x="410066" y="4389789"/>
            <a:ext cx="6160416" cy="120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Concept Importance: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Stores intermediate results in memory to avoid </a:t>
            </a:r>
            <a:r>
              <a:rPr lang="en-US" sz="1600" dirty="0" err="1"/>
              <a:t>recomputation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Speeds up repeated queries and iterative workflows.</a:t>
            </a:r>
          </a:p>
        </p:txBody>
      </p:sp>
    </p:spTree>
    <p:extLst>
      <p:ext uri="{BB962C8B-B14F-4D97-AF65-F5344CB8AC3E}">
        <p14:creationId xmlns:p14="http://schemas.microsoft.com/office/powerpoint/2010/main" val="15334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E4AA10-7EDD-2C67-6B63-C80185548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38" y="1251284"/>
            <a:ext cx="7095138" cy="4355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ACEBF9-6A05-3F52-865A-9A47761AFB6C}"/>
              </a:ext>
            </a:extLst>
          </p:cNvPr>
          <p:cNvSpPr txBox="1"/>
          <p:nvPr/>
        </p:nvSpPr>
        <p:spPr>
          <a:xfrm>
            <a:off x="7376910" y="3157496"/>
            <a:ext cx="4359462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2 Key Points: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Shows concrete improvement after    optimization; e.g., Run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faster than Run 1.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Useful for performance monitoring and making data-driven optimization decisions.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B3AE8-A79C-C901-5EBF-93D531B44D76}"/>
              </a:ext>
            </a:extLst>
          </p:cNvPr>
          <p:cNvSpPr txBox="1"/>
          <p:nvPr/>
        </p:nvSpPr>
        <p:spPr>
          <a:xfrm>
            <a:off x="285160" y="504411"/>
            <a:ext cx="6094428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4. Compare Execution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9EE86-8BA9-3B28-2486-1AB8247A3A3B}"/>
              </a:ext>
            </a:extLst>
          </p:cNvPr>
          <p:cNvSpPr txBox="1"/>
          <p:nvPr/>
        </p:nvSpPr>
        <p:spPr>
          <a:xfrm>
            <a:off x="7376910" y="1430395"/>
            <a:ext cx="57927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Concept Importance:</a:t>
            </a:r>
          </a:p>
          <a:p>
            <a:pPr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Quantifies the effectiveness of optimizations like</a:t>
            </a:r>
          </a:p>
          <a:p>
            <a:r>
              <a:rPr lang="en-US" sz="1600" dirty="0"/>
              <a:t>   caching or partition pruning.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Helps document and visualize performance gains for</a:t>
            </a:r>
          </a:p>
          <a:p>
            <a:r>
              <a:rPr lang="en-US" sz="1600" dirty="0"/>
              <a:t>   stakeholders or reports.</a:t>
            </a:r>
          </a:p>
        </p:txBody>
      </p:sp>
    </p:spTree>
    <p:extLst>
      <p:ext uri="{BB962C8B-B14F-4D97-AF65-F5344CB8AC3E}">
        <p14:creationId xmlns:p14="http://schemas.microsoft.com/office/powerpoint/2010/main" val="2902210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B85A3-055A-2A46-0124-0EE176B89124}"/>
              </a:ext>
            </a:extLst>
          </p:cNvPr>
          <p:cNvSpPr txBox="1"/>
          <p:nvPr/>
        </p:nvSpPr>
        <p:spPr>
          <a:xfrm>
            <a:off x="967922" y="1291248"/>
            <a:ext cx="610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Conclusion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1E052A-455C-4906-ABCB-453052A8A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922" y="2252524"/>
            <a:ext cx="10843863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Analyzing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explain plan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identifies bottlenecks like shuffles, scans, and expensive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Caching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significantly improves performance for repeated queries and reduces computation cost.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Comparing execution times 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quantifiable evidence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optimization benefits.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Running heavy queries helps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 real production workloads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set a performance  baseline.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Overall, these techniques are essential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efficient, production-ready Spark workflows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1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402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DAY 10 –  Query Optimization &amp; Explain Plans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Wadile</dc:creator>
  <cp:lastModifiedBy>Nandini Wadile</cp:lastModifiedBy>
  <cp:revision>42</cp:revision>
  <dcterms:created xsi:type="dcterms:W3CDTF">2026-02-22T10:29:31Z</dcterms:created>
  <dcterms:modified xsi:type="dcterms:W3CDTF">2026-02-28T13:57:46Z</dcterms:modified>
</cp:coreProperties>
</file>